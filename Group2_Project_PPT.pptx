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League Spartan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20B0604020202020204" charset="0"/>
      <p:regular r:id="rId15"/>
    </p:embeddedFont>
    <p:embeddedFont>
      <p:font typeface="Roboto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547281" y="2151450"/>
            <a:ext cx="8501329" cy="3810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4379513" y="8233036"/>
            <a:ext cx="4823538" cy="482353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302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791282" y="6846531"/>
            <a:ext cx="4823538" cy="482353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F4CD">
                <a:alpha val="72941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841037" y="2817570"/>
            <a:ext cx="4605925" cy="2602348"/>
          </a:xfrm>
          <a:custGeom>
            <a:avLst/>
            <a:gdLst/>
            <a:ahLst/>
            <a:cxnLst/>
            <a:rect l="l" t="t" r="r" b="b"/>
            <a:pathLst>
              <a:path w="4605925" h="2602348">
                <a:moveTo>
                  <a:pt x="0" y="0"/>
                </a:moveTo>
                <a:lnTo>
                  <a:pt x="4605926" y="0"/>
                </a:lnTo>
                <a:lnTo>
                  <a:pt x="4605926" y="2602348"/>
                </a:lnTo>
                <a:lnTo>
                  <a:pt x="0" y="2602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73640" y="5943164"/>
            <a:ext cx="13740719" cy="387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08"/>
              </a:lnSpc>
            </a:pPr>
            <a:r>
              <a:rPr lang="en-US" sz="7363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SUSTAINABLE CLOTHING BRAND: EKOÉ</a:t>
            </a:r>
          </a:p>
          <a:p>
            <a:pPr algn="l">
              <a:lnSpc>
                <a:spcPts val="10308"/>
              </a:lnSpc>
            </a:pPr>
            <a:endParaRPr lang="en-US" sz="7363">
              <a:solidFill>
                <a:srgbClr val="1F3027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227884" y="1222409"/>
            <a:ext cx="9832233" cy="92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3"/>
              </a:lnSpc>
            </a:pPr>
            <a:r>
              <a:rPr lang="en-US" sz="5423">
                <a:solidFill>
                  <a:srgbClr val="1F3027"/>
                </a:solidFill>
                <a:latin typeface="Roboto"/>
                <a:ea typeface="Roboto"/>
                <a:cs typeface="Roboto"/>
                <a:sym typeface="Roboto"/>
              </a:rPr>
              <a:t>MARKETING MANAGEMENT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2549898" y="-1901564"/>
            <a:ext cx="4823538" cy="482353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302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595654" y="-3496354"/>
            <a:ext cx="4823538" cy="482353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F4CD">
                <a:alpha val="72941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07009" y="3150910"/>
            <a:ext cx="5049618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-5400000">
            <a:off x="1793081" y="8713889"/>
            <a:ext cx="146488" cy="1675250"/>
            <a:chOff x="0" y="0"/>
            <a:chExt cx="38581" cy="441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411295" y="-414296"/>
            <a:ext cx="8382586" cy="11264917"/>
            <a:chOff x="0" y="0"/>
            <a:chExt cx="3663950" cy="4923790"/>
          </a:xfrm>
        </p:grpSpPr>
        <p:sp>
          <p:nvSpPr>
            <p:cNvPr id="8" name="Freeform 8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608" r="-608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1F302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81599" y="923925"/>
            <a:ext cx="5259131" cy="198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42"/>
              </a:lnSpc>
            </a:pPr>
            <a:r>
              <a:rPr lang="en-US" sz="5744" b="1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EXECUTIVE</a:t>
            </a:r>
          </a:p>
          <a:p>
            <a:pPr algn="l">
              <a:lnSpc>
                <a:spcPts val="8042"/>
              </a:lnSpc>
            </a:pPr>
            <a:r>
              <a:rPr lang="en-US" sz="5744" b="1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19125"/>
            <a:ext cx="6367164" cy="585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Ekoé is a premium sustainable clothing brand designed for eco-conscious consumers. 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This report outlines our external environment analysis (PESTEL), industry competitiveness via Porter’s Five Forces, STP framework, consumer insights, the making of the logo and tagline, and final marketing recommendations. 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We aim to establish Ekoé as a premium yet accessible lifestyle brand that blends timeless fashion with sustainability.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4663350" y="1567707"/>
            <a:ext cx="8046899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-5400000">
            <a:off x="764381" y="9376131"/>
            <a:ext cx="146488" cy="1675250"/>
            <a:chOff x="0" y="0"/>
            <a:chExt cx="38581" cy="441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9650" y="2291607"/>
            <a:ext cx="5111444" cy="3932723"/>
            <a:chOff x="0" y="0"/>
            <a:chExt cx="1346224" cy="10357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6224" cy="1035779"/>
            </a:xfrm>
            <a:custGeom>
              <a:avLst/>
              <a:gdLst/>
              <a:ahLst/>
              <a:cxnLst/>
              <a:rect l="l" t="t" r="r" b="b"/>
              <a:pathLst>
                <a:path w="1346224" h="1035779">
                  <a:moveTo>
                    <a:pt x="77246" y="0"/>
                  </a:moveTo>
                  <a:lnTo>
                    <a:pt x="1268978" y="0"/>
                  </a:lnTo>
                  <a:cubicBezTo>
                    <a:pt x="1289465" y="0"/>
                    <a:pt x="1309113" y="8138"/>
                    <a:pt x="1323599" y="22625"/>
                  </a:cubicBezTo>
                  <a:cubicBezTo>
                    <a:pt x="1338085" y="37111"/>
                    <a:pt x="1346224" y="56759"/>
                    <a:pt x="1346224" y="77246"/>
                  </a:cubicBezTo>
                  <a:lnTo>
                    <a:pt x="1346224" y="958533"/>
                  </a:lnTo>
                  <a:cubicBezTo>
                    <a:pt x="1346224" y="979020"/>
                    <a:pt x="1338085" y="998668"/>
                    <a:pt x="1323599" y="1013154"/>
                  </a:cubicBezTo>
                  <a:cubicBezTo>
                    <a:pt x="1309113" y="1027641"/>
                    <a:pt x="1289465" y="1035779"/>
                    <a:pt x="1268978" y="1035779"/>
                  </a:cubicBezTo>
                  <a:lnTo>
                    <a:pt x="77246" y="1035779"/>
                  </a:lnTo>
                  <a:cubicBezTo>
                    <a:pt x="56759" y="1035779"/>
                    <a:pt x="37111" y="1027641"/>
                    <a:pt x="22625" y="1013154"/>
                  </a:cubicBezTo>
                  <a:cubicBezTo>
                    <a:pt x="8138" y="998668"/>
                    <a:pt x="0" y="979020"/>
                    <a:pt x="0" y="958533"/>
                  </a:cubicBezTo>
                  <a:lnTo>
                    <a:pt x="0" y="77246"/>
                  </a:lnTo>
                  <a:cubicBezTo>
                    <a:pt x="0" y="56759"/>
                    <a:pt x="8138" y="37111"/>
                    <a:pt x="22625" y="22625"/>
                  </a:cubicBezTo>
                  <a:cubicBezTo>
                    <a:pt x="37111" y="8138"/>
                    <a:pt x="56759" y="0"/>
                    <a:pt x="77246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346224" cy="1102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97429" y="2291607"/>
            <a:ext cx="5307862" cy="3835005"/>
            <a:chOff x="0" y="0"/>
            <a:chExt cx="1397955" cy="10100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7955" cy="1010042"/>
            </a:xfrm>
            <a:custGeom>
              <a:avLst/>
              <a:gdLst/>
              <a:ahLst/>
              <a:cxnLst/>
              <a:rect l="l" t="t" r="r" b="b"/>
              <a:pathLst>
                <a:path w="1397955" h="1010042">
                  <a:moveTo>
                    <a:pt x="74387" y="0"/>
                  </a:moveTo>
                  <a:lnTo>
                    <a:pt x="1323568" y="0"/>
                  </a:lnTo>
                  <a:cubicBezTo>
                    <a:pt x="1343297" y="0"/>
                    <a:pt x="1362217" y="7837"/>
                    <a:pt x="1376168" y="21788"/>
                  </a:cubicBezTo>
                  <a:cubicBezTo>
                    <a:pt x="1390118" y="35738"/>
                    <a:pt x="1397955" y="54659"/>
                    <a:pt x="1397955" y="74387"/>
                  </a:cubicBezTo>
                  <a:lnTo>
                    <a:pt x="1397955" y="935655"/>
                  </a:lnTo>
                  <a:cubicBezTo>
                    <a:pt x="1397955" y="955384"/>
                    <a:pt x="1390118" y="974304"/>
                    <a:pt x="1376168" y="988255"/>
                  </a:cubicBezTo>
                  <a:cubicBezTo>
                    <a:pt x="1362217" y="1002205"/>
                    <a:pt x="1343297" y="1010042"/>
                    <a:pt x="1323568" y="1010042"/>
                  </a:cubicBezTo>
                  <a:lnTo>
                    <a:pt x="74387" y="1010042"/>
                  </a:lnTo>
                  <a:cubicBezTo>
                    <a:pt x="33304" y="1010042"/>
                    <a:pt x="0" y="976738"/>
                    <a:pt x="0" y="935655"/>
                  </a:cubicBezTo>
                  <a:lnTo>
                    <a:pt x="0" y="74387"/>
                  </a:lnTo>
                  <a:cubicBezTo>
                    <a:pt x="0" y="54659"/>
                    <a:pt x="7837" y="35738"/>
                    <a:pt x="21788" y="21788"/>
                  </a:cubicBezTo>
                  <a:cubicBezTo>
                    <a:pt x="35738" y="7837"/>
                    <a:pt x="54659" y="0"/>
                    <a:pt x="74387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397955" cy="1076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12794" y="2291607"/>
            <a:ext cx="5175129" cy="3835005"/>
            <a:chOff x="0" y="0"/>
            <a:chExt cx="1362997" cy="10100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62997" cy="1010042"/>
            </a:xfrm>
            <a:custGeom>
              <a:avLst/>
              <a:gdLst/>
              <a:ahLst/>
              <a:cxnLst/>
              <a:rect l="l" t="t" r="r" b="b"/>
              <a:pathLst>
                <a:path w="1362997" h="1010042">
                  <a:moveTo>
                    <a:pt x="76295" y="0"/>
                  </a:moveTo>
                  <a:lnTo>
                    <a:pt x="1286702" y="0"/>
                  </a:lnTo>
                  <a:cubicBezTo>
                    <a:pt x="1328838" y="0"/>
                    <a:pt x="1362997" y="34159"/>
                    <a:pt x="1362997" y="76295"/>
                  </a:cubicBezTo>
                  <a:lnTo>
                    <a:pt x="1362997" y="933747"/>
                  </a:lnTo>
                  <a:cubicBezTo>
                    <a:pt x="1362997" y="975884"/>
                    <a:pt x="1328838" y="1010042"/>
                    <a:pt x="1286702" y="1010042"/>
                  </a:cubicBezTo>
                  <a:lnTo>
                    <a:pt x="76295" y="1010042"/>
                  </a:lnTo>
                  <a:cubicBezTo>
                    <a:pt x="34159" y="1010042"/>
                    <a:pt x="0" y="975884"/>
                    <a:pt x="0" y="933747"/>
                  </a:cubicBezTo>
                  <a:lnTo>
                    <a:pt x="0" y="76295"/>
                  </a:lnTo>
                  <a:cubicBezTo>
                    <a:pt x="0" y="34159"/>
                    <a:pt x="34159" y="0"/>
                    <a:pt x="76295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362997" cy="1076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36749" y="6812975"/>
            <a:ext cx="4750051" cy="3086100"/>
            <a:chOff x="0" y="0"/>
            <a:chExt cx="1251042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1042" cy="812800"/>
            </a:xfrm>
            <a:custGeom>
              <a:avLst/>
              <a:gdLst/>
              <a:ahLst/>
              <a:cxnLst/>
              <a:rect l="l" t="t" r="r" b="b"/>
              <a:pathLst>
                <a:path w="1251042" h="812800">
                  <a:moveTo>
                    <a:pt x="83123" y="0"/>
                  </a:moveTo>
                  <a:lnTo>
                    <a:pt x="1167920" y="0"/>
                  </a:lnTo>
                  <a:cubicBezTo>
                    <a:pt x="1213827" y="0"/>
                    <a:pt x="1251042" y="37215"/>
                    <a:pt x="1251042" y="83123"/>
                  </a:cubicBezTo>
                  <a:lnTo>
                    <a:pt x="1251042" y="729677"/>
                  </a:lnTo>
                  <a:cubicBezTo>
                    <a:pt x="1251042" y="775585"/>
                    <a:pt x="1213827" y="812800"/>
                    <a:pt x="1167920" y="812800"/>
                  </a:cubicBezTo>
                  <a:lnTo>
                    <a:pt x="83123" y="812800"/>
                  </a:lnTo>
                  <a:cubicBezTo>
                    <a:pt x="37215" y="812800"/>
                    <a:pt x="0" y="775585"/>
                    <a:pt x="0" y="729677"/>
                  </a:cubicBezTo>
                  <a:lnTo>
                    <a:pt x="0" y="83123"/>
                  </a:lnTo>
                  <a:cubicBezTo>
                    <a:pt x="0" y="37215"/>
                    <a:pt x="37215" y="0"/>
                    <a:pt x="83123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51042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94038" y="6812975"/>
            <a:ext cx="4499581" cy="3086100"/>
            <a:chOff x="0" y="0"/>
            <a:chExt cx="1185075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85075" cy="812800"/>
            </a:xfrm>
            <a:custGeom>
              <a:avLst/>
              <a:gdLst/>
              <a:ahLst/>
              <a:cxnLst/>
              <a:rect l="l" t="t" r="r" b="b"/>
              <a:pathLst>
                <a:path w="1185075" h="812800">
                  <a:moveTo>
                    <a:pt x="87750" y="0"/>
                  </a:moveTo>
                  <a:lnTo>
                    <a:pt x="1097325" y="0"/>
                  </a:lnTo>
                  <a:cubicBezTo>
                    <a:pt x="1145788" y="0"/>
                    <a:pt x="1185075" y="39287"/>
                    <a:pt x="1185075" y="87750"/>
                  </a:cubicBezTo>
                  <a:lnTo>
                    <a:pt x="1185075" y="725050"/>
                  </a:lnTo>
                  <a:cubicBezTo>
                    <a:pt x="1185075" y="748323"/>
                    <a:pt x="1175830" y="770642"/>
                    <a:pt x="1159373" y="787099"/>
                  </a:cubicBezTo>
                  <a:cubicBezTo>
                    <a:pt x="1142917" y="803555"/>
                    <a:pt x="1120598" y="812800"/>
                    <a:pt x="1097325" y="812800"/>
                  </a:cubicBezTo>
                  <a:lnTo>
                    <a:pt x="87750" y="812800"/>
                  </a:lnTo>
                  <a:cubicBezTo>
                    <a:pt x="39287" y="812800"/>
                    <a:pt x="0" y="773513"/>
                    <a:pt x="0" y="725050"/>
                  </a:cubicBezTo>
                  <a:lnTo>
                    <a:pt x="0" y="87750"/>
                  </a:lnTo>
                  <a:cubicBezTo>
                    <a:pt x="0" y="39287"/>
                    <a:pt x="39287" y="0"/>
                    <a:pt x="87750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185075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01447" y="2541485"/>
            <a:ext cx="4899826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 Financial Considerations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High-Income Buyers</a:t>
            </a:r>
          </a:p>
          <a:p>
            <a:pPr algn="ctr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Price-Conscious Market</a:t>
            </a:r>
          </a:p>
          <a:p>
            <a:pPr algn="ctr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Competitive Edge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893300" y="464976"/>
            <a:ext cx="9500319" cy="110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4"/>
              </a:lnSpc>
            </a:pPr>
            <a:r>
              <a:rPr lang="en-US" sz="6460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PESTEL ANALYSIS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9650" y="2541485"/>
            <a:ext cx="5111444" cy="31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Political Factors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Government programs : PM MITRA Parks, PLI Scheme offer substantial financial support.</a:t>
            </a:r>
          </a:p>
          <a:p>
            <a:pPr algn="ctr">
              <a:lnSpc>
                <a:spcPts val="3079"/>
              </a:lnSpc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Ekoé’s local sourcing strategy shields it from global supply chain issues.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30295" y="2541485"/>
            <a:ext cx="4429005" cy="351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Needs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Online Engagement</a:t>
            </a:r>
          </a:p>
          <a:p>
            <a:pPr algn="ctr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Quick Processes</a:t>
            </a:r>
          </a:p>
          <a:p>
            <a:pPr algn="ctr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New Products</a:t>
            </a:r>
          </a:p>
          <a:p>
            <a:pPr algn="ctr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Green Making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414297" y="7069586"/>
            <a:ext cx="3459063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 Social Factors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Shifting Consumer Views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Brands as Storytellers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Lifestyle Focus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23382" y="7072055"/>
            <a:ext cx="5063418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Environmental Impact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Lasting Style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Earth-Kind Packaging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Green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3044001" y="2044151"/>
            <a:ext cx="11437206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-5400000">
            <a:off x="764381" y="9376131"/>
            <a:ext cx="146488" cy="1675250"/>
            <a:chOff x="0" y="0"/>
            <a:chExt cx="38581" cy="441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69310" y="904875"/>
            <a:ext cx="11149380" cy="110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4"/>
              </a:lnSpc>
            </a:pPr>
            <a:r>
              <a:rPr lang="en-US" sz="6460" b="1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PORTER’S FIVE FORCES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637900"/>
            <a:ext cx="15856995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1) Threat of New Entrants: Moderate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Barriers to entry are relatively low in the fashion industry. But tapping into the premium sustainable category is not easy. 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81" lvl="1" indent="-237491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Gaining trust, finding sustainable materials, and ensuring brand consistency all take capital, design skills, and reliable supply chains.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335630"/>
            <a:ext cx="16040224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3) Bargaining Power of Buyers: High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Our customers (22–45 years; household income &gt; ₹50K/month) are urban and aware about sustainability. They are conscious about fashion as well as budget.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522736"/>
            <a:ext cx="15856995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2) Bargaining Power of Suppliers: Moderate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suppliers have fair amount of negotiating power as good eco-friendly raw material like recycled fabric, cotton, linen, bamboo, etc. are available in short supply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3855444" y="2006051"/>
            <a:ext cx="10572955" cy="3810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-5400000">
            <a:off x="764381" y="9376131"/>
            <a:ext cx="146488" cy="1675250"/>
            <a:chOff x="0" y="0"/>
            <a:chExt cx="38581" cy="441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05909" y="904875"/>
            <a:ext cx="10076181" cy="110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4"/>
              </a:lnSpc>
            </a:pPr>
            <a:r>
              <a:rPr lang="en-US" sz="6460" b="1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PORTER’S FIVE FORCES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26469"/>
            <a:ext cx="16230600" cy="31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4) The Threat of Substitutes: Moderate – High</a:t>
            </a:r>
          </a:p>
          <a:p>
            <a:pPr algn="l">
              <a:lnSpc>
                <a:spcPts val="3080"/>
              </a:lnSpc>
            </a:pPr>
            <a:endParaRPr lang="en-US" sz="2200" b="1">
              <a:solidFill>
                <a:srgbClr val="1F302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Consumers can easily transition to premium fashion brands including H&amp;M Premium, Zara, Mango, Doodlage and Uniqlo.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Choices such as second-hand fashion, thrift platforms and rental clothing services are increasingly popular among conscious consumers. 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6680803"/>
            <a:ext cx="16230600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5) Rivalry Among Existing Competitors: High</a:t>
            </a:r>
          </a:p>
          <a:p>
            <a:pPr algn="l">
              <a:lnSpc>
                <a:spcPts val="3080"/>
              </a:lnSpc>
            </a:pPr>
            <a:endParaRPr lang="en-US" sz="2200" b="1">
              <a:solidFill>
                <a:srgbClr val="1F302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Premium fashion market is very competitive. The market is saturated with global brands, new eco-friendly companies selling directly to customer and India fashion brand trying to establish their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449802" y="2334717"/>
            <a:ext cx="12819884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2293829" y="4132790"/>
            <a:ext cx="5567509" cy="3534951"/>
          </a:xfrm>
          <a:custGeom>
            <a:avLst/>
            <a:gdLst/>
            <a:ahLst/>
            <a:cxnLst/>
            <a:rect l="l" t="t" r="r" b="b"/>
            <a:pathLst>
              <a:path w="5567509" h="3534951">
                <a:moveTo>
                  <a:pt x="0" y="0"/>
                </a:moveTo>
                <a:lnTo>
                  <a:pt x="5567509" y="0"/>
                </a:lnTo>
                <a:lnTo>
                  <a:pt x="5567509" y="3534950"/>
                </a:lnTo>
                <a:lnTo>
                  <a:pt x="0" y="353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8" t="-11944" r="-56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33725" y="1280618"/>
            <a:ext cx="1322055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Analyses &amp; Visual Representations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78035" y="7808958"/>
            <a:ext cx="5183304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39.6% shop online. Remaining respondents use other channels (offline/local).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21196" y="3485155"/>
            <a:ext cx="423733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 Preference (from survey)</a:t>
            </a:r>
          </a:p>
        </p:txBody>
      </p:sp>
      <p:sp>
        <p:nvSpPr>
          <p:cNvPr id="8" name="Freeform 8"/>
          <p:cNvSpPr/>
          <p:nvPr/>
        </p:nvSpPr>
        <p:spPr>
          <a:xfrm>
            <a:off x="215996" y="3979098"/>
            <a:ext cx="5718433" cy="3688642"/>
          </a:xfrm>
          <a:custGeom>
            <a:avLst/>
            <a:gdLst/>
            <a:ahLst/>
            <a:cxnLst/>
            <a:rect l="l" t="t" r="r" b="b"/>
            <a:pathLst>
              <a:path w="5718433" h="3688642">
                <a:moveTo>
                  <a:pt x="0" y="0"/>
                </a:moveTo>
                <a:lnTo>
                  <a:pt x="5718433" y="0"/>
                </a:lnTo>
                <a:lnTo>
                  <a:pt x="5718433" y="3688642"/>
                </a:lnTo>
                <a:lnTo>
                  <a:pt x="0" y="368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09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66492" y="7808958"/>
            <a:ext cx="5017441" cy="134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Note: Additional respondents indicate willingness to pay ~10% premium (qualitative).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 b="1">
              <a:solidFill>
                <a:srgbClr val="1F302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11426" y="3485155"/>
            <a:ext cx="4975821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Willingness to Pay – Respondent Counts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114807" y="4132790"/>
            <a:ext cx="5886829" cy="3381260"/>
          </a:xfrm>
          <a:custGeom>
            <a:avLst/>
            <a:gdLst/>
            <a:ahLst/>
            <a:cxnLst/>
            <a:rect l="l" t="t" r="r" b="b"/>
            <a:pathLst>
              <a:path w="5886829" h="3381260">
                <a:moveTo>
                  <a:pt x="0" y="0"/>
                </a:moveTo>
                <a:lnTo>
                  <a:pt x="5886830" y="0"/>
                </a:lnTo>
                <a:lnTo>
                  <a:pt x="5886830" y="3381259"/>
                </a:lnTo>
                <a:lnTo>
                  <a:pt x="0" y="338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162" t="-19289" r="-3097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812409" y="3485155"/>
            <a:ext cx="4663182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Frequency of Purchase of new clothes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49502" y="7761699"/>
            <a:ext cx="5017441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85 respondent shop every 3-6 months, whereas 43 respondent shop once a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1479133100"/>
              </p:ext>
            </p:extLst>
          </p:nvPr>
        </p:nvGraphicFramePr>
        <p:xfrm>
          <a:off x="1028700" y="2010781"/>
          <a:ext cx="15250085" cy="44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288000" imgH="6692900" progId="Excel.Sheet.12">
                  <p:embed/>
                </p:oleObj>
              </mc:Choice>
              <mc:Fallback>
                <p:oleObj name="Worksheet" r:id="rId3" imgW="18288000" imgH="6692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700" y="2010781"/>
                        <a:ext cx="15250085" cy="44108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853970" y="914400"/>
            <a:ext cx="7246838" cy="102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4"/>
              </a:lnSpc>
            </a:pPr>
            <a:r>
              <a:rPr lang="en-US" sz="5960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STP FRAMEWORK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69463" y="6710781"/>
            <a:ext cx="12349073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segment category: Eco enthusiasts (Small but high value)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Willing to pay 15-20% more for sustainable clothing, shop monthly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Prefer Boutique or branded shops and have high awareness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Second segment category: Conscious Pragmatists (largest respondents’ category)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Willing to pay 10-15%, shop every 3-6 months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Prefer online platform and have moderate sustainability awareness</a:t>
            </a:r>
          </a:p>
        </p:txBody>
      </p:sp>
      <p:sp>
        <p:nvSpPr>
          <p:cNvPr id="6" name="AutoShape 6"/>
          <p:cNvSpPr/>
          <p:nvPr/>
        </p:nvSpPr>
        <p:spPr>
          <a:xfrm>
            <a:off x="5585256" y="1972680"/>
            <a:ext cx="7483946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6121600" y="2301326"/>
            <a:ext cx="6044800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-5400000">
            <a:off x="764381" y="9376131"/>
            <a:ext cx="146488" cy="1675250"/>
            <a:chOff x="0" y="0"/>
            <a:chExt cx="38581" cy="441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252134" y="1200150"/>
            <a:ext cx="5914265" cy="110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4"/>
              </a:lnSpc>
            </a:pPr>
            <a:r>
              <a:rPr lang="en-US" sz="6460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POSITIONING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8575" y="2997878"/>
            <a:ext cx="1431978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For conscious professionals and style-forward changemakers, Wear the Change offers ethically crafted, premium clothing that blends timeless design with environmental integrity.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C08ADD-8568-9A13-39A6-4EEAB266B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26272"/>
              </p:ext>
            </p:extLst>
          </p:nvPr>
        </p:nvGraphicFramePr>
        <p:xfrm>
          <a:off x="2468575" y="4509587"/>
          <a:ext cx="13381026" cy="4525964"/>
        </p:xfrm>
        <a:graphic>
          <a:graphicData uri="http://schemas.openxmlformats.org/drawingml/2006/table">
            <a:tbl>
              <a:tblPr/>
              <a:tblGrid>
                <a:gridCol w="6690513">
                  <a:extLst>
                    <a:ext uri="{9D8B030D-6E8A-4147-A177-3AD203B41FA5}">
                      <a16:colId xmlns:a16="http://schemas.microsoft.com/office/drawing/2014/main" val="3749735324"/>
                    </a:ext>
                  </a:extLst>
                </a:gridCol>
                <a:gridCol w="6690513">
                  <a:extLst>
                    <a:ext uri="{9D8B030D-6E8A-4147-A177-3AD203B41FA5}">
                      <a16:colId xmlns:a16="http://schemas.microsoft.com/office/drawing/2014/main" val="659137110"/>
                    </a:ext>
                  </a:extLst>
                </a:gridCol>
              </a:tblGrid>
              <a:tr h="375911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Pillar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Description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971381"/>
                  </a:ext>
                </a:extLst>
              </a:tr>
              <a:tr h="1172841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FFFFFF"/>
                          </a:solidFill>
                          <a:effectLst/>
                        </a:rPr>
                        <a:t>Premium Craftsmanship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Use of premium yet breathable fabrics such as linen, cotton and bamboo silk, crafted silhouettes, and thoughtful designs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540727"/>
                  </a:ext>
                </a:extLst>
              </a:tr>
              <a:tr h="1172841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Sustainable Procurement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Sourcing materials with local artisan partnerships, and transparent procurement strategy along with circular practices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382192"/>
                  </a:ext>
                </a:extLst>
              </a:tr>
              <a:tr h="63153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FFFFFF"/>
                          </a:solidFill>
                          <a:effectLst/>
                        </a:rPr>
                        <a:t>Emotional Connection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FFFF"/>
                          </a:solidFill>
                          <a:effectLst/>
                        </a:rPr>
                        <a:t>Storytelling about each piece’s origin, impact, and purpose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19016"/>
                  </a:ext>
                </a:extLst>
              </a:tr>
              <a:tr h="1172841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Digital-first experience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Instagram led brand presence with curated range, direct sales, and community interaction and engagement strategy</a:t>
                      </a:r>
                    </a:p>
                  </a:txBody>
                  <a:tcPr marL="90219" marR="90219" marT="45109" marB="45109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58312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5D4B47AA-2240-934B-10E3-12F4797A3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157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764381" y="9376131"/>
            <a:ext cx="146488" cy="1675250"/>
            <a:chOff x="0" y="0"/>
            <a:chExt cx="38581" cy="4412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72760" y="1343346"/>
            <a:ext cx="7170693" cy="110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4"/>
              </a:lnSpc>
            </a:pPr>
            <a:r>
              <a:rPr lang="en-US" sz="6460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8100" y="3152053"/>
            <a:ext cx="7587694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Strategy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To Launch capsule collections in ranges to reduce wastage with premium fabrics such as linen, Cotton and bamboo silk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98593" y="3152053"/>
            <a:ext cx="6479757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Channel Strategy: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Focus on online platforms further expanding to branded retail partnerships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8100" y="5334000"/>
            <a:ext cx="7587694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Pricing Strategy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Tiered pricing with premium lines starting at 15–20% above market that is Rs 1500-6000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8593" y="5138738"/>
            <a:ext cx="6479757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Strategy: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Using storytelling for emotional connection, certifications, and polls and reels with craftsmanship importance to build trust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402027" y="2406421"/>
            <a:ext cx="7483946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0773501-357A-4216-A9CB-60E9BB89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840648"/>
              </p:ext>
            </p:extLst>
          </p:nvPr>
        </p:nvGraphicFramePr>
        <p:xfrm>
          <a:off x="1618100" y="6918741"/>
          <a:ext cx="15374500" cy="2831245"/>
        </p:xfrm>
        <a:graphic>
          <a:graphicData uri="http://schemas.openxmlformats.org/drawingml/2006/table">
            <a:tbl>
              <a:tblPr/>
              <a:tblGrid>
                <a:gridCol w="3843625">
                  <a:extLst>
                    <a:ext uri="{9D8B030D-6E8A-4147-A177-3AD203B41FA5}">
                      <a16:colId xmlns:a16="http://schemas.microsoft.com/office/drawing/2014/main" val="3128384963"/>
                    </a:ext>
                  </a:extLst>
                </a:gridCol>
                <a:gridCol w="3843625">
                  <a:extLst>
                    <a:ext uri="{9D8B030D-6E8A-4147-A177-3AD203B41FA5}">
                      <a16:colId xmlns:a16="http://schemas.microsoft.com/office/drawing/2014/main" val="4154915097"/>
                    </a:ext>
                  </a:extLst>
                </a:gridCol>
                <a:gridCol w="3843625">
                  <a:extLst>
                    <a:ext uri="{9D8B030D-6E8A-4147-A177-3AD203B41FA5}">
                      <a16:colId xmlns:a16="http://schemas.microsoft.com/office/drawing/2014/main" val="2978446063"/>
                    </a:ext>
                  </a:extLst>
                </a:gridCol>
                <a:gridCol w="3843625">
                  <a:extLst>
                    <a:ext uri="{9D8B030D-6E8A-4147-A177-3AD203B41FA5}">
                      <a16:colId xmlns:a16="http://schemas.microsoft.com/office/drawing/2014/main" val="1699293744"/>
                    </a:ext>
                  </a:extLst>
                </a:gridCol>
              </a:tblGrid>
              <a:tr h="501475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Season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Campaigns Theme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Material focus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Product Category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16098"/>
                  </a:ext>
                </a:extLst>
              </a:tr>
              <a:tr h="501475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Spring (Feb–Apr)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“Fresh Starts, Earth First”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Organic cotton, linen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Everyday wear, light workwear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3726"/>
                  </a:ext>
                </a:extLst>
              </a:tr>
              <a:tr h="501475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Summer (May–Jul)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“Breathe Easy, Dress Light”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Bamboo silk, linen blends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Resort wear, breathable formals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67201"/>
                  </a:ext>
                </a:extLst>
              </a:tr>
              <a:tr h="825345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Monsoon (Aug–Sep)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“Weather the Change”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Treated cotton, quick-dry linen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FF"/>
                          </a:solidFill>
                          <a:effectLst/>
                        </a:rPr>
                        <a:t>Layered wear, monsoon-friendly sets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54993"/>
                  </a:ext>
                </a:extLst>
              </a:tr>
              <a:tr h="501475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Winter (Dec–Jan)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“Warmth with Purpose”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Heavier linen, cotton knits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Layered formals, cozy essentials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873381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E0A5E16F-7245-9DF0-D251-D276CB7A4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6556" y="6917948"/>
            <a:ext cx="3416555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07009" y="3189010"/>
            <a:ext cx="9827484" cy="0"/>
          </a:xfrm>
          <a:prstGeom prst="line">
            <a:avLst/>
          </a:prstGeom>
          <a:ln w="76200" cap="flat">
            <a:solidFill>
              <a:srgbClr val="1F302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-5400000">
            <a:off x="764381" y="9376131"/>
            <a:ext cx="146488" cy="1675250"/>
            <a:chOff x="0" y="0"/>
            <a:chExt cx="38581" cy="4412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81" cy="441218"/>
            </a:xfrm>
            <a:custGeom>
              <a:avLst/>
              <a:gdLst/>
              <a:ahLst/>
              <a:cxnLst/>
              <a:rect l="l" t="t" r="r" b="b"/>
              <a:pathLst>
                <a:path w="38581" h="441218">
                  <a:moveTo>
                    <a:pt x="0" y="0"/>
                  </a:moveTo>
                  <a:lnTo>
                    <a:pt x="38581" y="0"/>
                  </a:lnTo>
                  <a:lnTo>
                    <a:pt x="38581" y="441218"/>
                  </a:lnTo>
                  <a:lnTo>
                    <a:pt x="0" y="441218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8581" cy="48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148063" y="1028700"/>
            <a:ext cx="5111237" cy="6389046"/>
          </a:xfrm>
          <a:custGeom>
            <a:avLst/>
            <a:gdLst/>
            <a:ahLst/>
            <a:cxnLst/>
            <a:rect l="l" t="t" r="r" b="b"/>
            <a:pathLst>
              <a:path w="5111237" h="6389046">
                <a:moveTo>
                  <a:pt x="0" y="0"/>
                </a:moveTo>
                <a:lnTo>
                  <a:pt x="5111237" y="0"/>
                </a:lnTo>
                <a:lnTo>
                  <a:pt x="5111237" y="6389046"/>
                </a:lnTo>
                <a:lnTo>
                  <a:pt x="0" y="6389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27762" y="-176950"/>
            <a:ext cx="10181759" cy="33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1"/>
              </a:lnSpc>
            </a:pPr>
            <a:endParaRPr/>
          </a:p>
          <a:p>
            <a:pPr algn="ctr">
              <a:lnSpc>
                <a:spcPts val="8981"/>
              </a:lnSpc>
            </a:pPr>
            <a:r>
              <a:rPr lang="en-US" sz="6415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INSTAGRAM MARKETING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7009" y="3598458"/>
            <a:ext cx="9623265" cy="546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Structure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: Using minimal and earthy tones, simple product design, artisanal textures 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Strategy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: Craftsmanship , sustainable procurement stories, premium lifestyle, customer engagement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Sales Strategy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: Instagram-led brand presence , limited/periodic range drops, pre-order model to waste reduction due to size issues and customization requests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3027"/>
                </a:solidFill>
                <a:latin typeface="Poppins Bold"/>
                <a:ea typeface="Poppins Bold"/>
                <a:cs typeface="Poppins Bold"/>
                <a:sym typeface="Poppins Bold"/>
              </a:rPr>
              <a:t>Engagement</a:t>
            </a:r>
            <a:r>
              <a:rPr lang="en-US" sz="2199">
                <a:solidFill>
                  <a:srgbClr val="1F3027"/>
                </a:solidFill>
                <a:latin typeface="Poppins"/>
                <a:ea typeface="Poppins"/>
                <a:cs typeface="Poppins"/>
                <a:sym typeface="Poppins"/>
              </a:rPr>
              <a:t>: Using polls for trend and customer analysis, reels for better reach, styling tips and behind-the-scenes sourcing for customer engagement</a:t>
            </a:r>
          </a:p>
          <a:p>
            <a:pPr algn="l">
              <a:lnSpc>
                <a:spcPts val="3140"/>
              </a:lnSpc>
              <a:spcBef>
                <a:spcPct val="0"/>
              </a:spcBef>
            </a:pPr>
            <a:endParaRPr lang="en-US" sz="2199">
              <a:solidFill>
                <a:srgbClr val="1F30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48063" y="7734952"/>
            <a:ext cx="5111237" cy="198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team worked to design a series of posters and social medial content as shown above in order to advertise and market our sustainable clothing brand, we also worked on a social media page for the brand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03" r="-2090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-248684"/>
            <a:ext cx="16230600" cy="6526476"/>
            <a:chOff x="0" y="0"/>
            <a:chExt cx="4274726" cy="17189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718907"/>
            </a:xfrm>
            <a:custGeom>
              <a:avLst/>
              <a:gdLst/>
              <a:ahLst/>
              <a:cxnLst/>
              <a:rect l="l" t="t" r="r" b="b"/>
              <a:pathLst>
                <a:path w="4274726" h="171890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94580"/>
                  </a:lnTo>
                  <a:cubicBezTo>
                    <a:pt x="4274726" y="1701032"/>
                    <a:pt x="4272163" y="1707220"/>
                    <a:pt x="4267601" y="1711782"/>
                  </a:cubicBezTo>
                  <a:cubicBezTo>
                    <a:pt x="4263039" y="1716344"/>
                    <a:pt x="4256851" y="1718907"/>
                    <a:pt x="4250399" y="1718907"/>
                  </a:cubicBezTo>
                  <a:lnTo>
                    <a:pt x="24327" y="1718907"/>
                  </a:lnTo>
                  <a:cubicBezTo>
                    <a:pt x="10891" y="1718907"/>
                    <a:pt x="0" y="1708016"/>
                    <a:pt x="0" y="169458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1766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23739" y="1412227"/>
            <a:ext cx="11440521" cy="187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6"/>
              </a:lnSpc>
            </a:pPr>
            <a:r>
              <a:rPr lang="en-US" sz="10990">
                <a:solidFill>
                  <a:srgbClr val="1F30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890</Words>
  <Application>Microsoft Office PowerPoint</Application>
  <PresentationFormat>Custom</PresentationFormat>
  <Paragraphs>124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</vt:lpstr>
      <vt:lpstr>Poppins Bold</vt:lpstr>
      <vt:lpstr>League Spartan</vt:lpstr>
      <vt:lpstr>Arial</vt:lpstr>
      <vt:lpstr>Roboto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White Business Professional Presentation</dc:title>
  <cp:lastModifiedBy>Parv Jhamb</cp:lastModifiedBy>
  <cp:revision>2</cp:revision>
  <dcterms:created xsi:type="dcterms:W3CDTF">2006-08-16T00:00:00Z</dcterms:created>
  <dcterms:modified xsi:type="dcterms:W3CDTF">2025-09-02T15:12:26Z</dcterms:modified>
  <dc:identifier>DAGxnHRFM2s</dc:identifier>
</cp:coreProperties>
</file>